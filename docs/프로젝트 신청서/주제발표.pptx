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Anek Bangla"/>
      <p:bold r:id="rId17"/>
    </p:embeddedFont>
    <p:embeddedFont>
      <p:font typeface="Anek Bangla SemiBold"/>
      <p:regular r:id="rId18"/>
      <p:bold r:id="rId19"/>
    </p:embeddedFont>
    <p:embeddedFont>
      <p:font typeface="Anek Bangla Medium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eKuid//3EbxI6lndl26UBXQd3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ekBanglaMedium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AnekBangla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nekBangla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nekBanglaSemiBold-bold.fntdata"/><Relationship Id="rId6" Type="http://schemas.openxmlformats.org/officeDocument/2006/relationships/slide" Target="slides/slide1.xml"/><Relationship Id="rId18" Type="http://schemas.openxmlformats.org/officeDocument/2006/relationships/font" Target="fonts/AnekBangla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4.png"/><Relationship Id="rId8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11" Type="http://schemas.openxmlformats.org/officeDocument/2006/relationships/image" Target="../media/image15.png"/><Relationship Id="rId10" Type="http://schemas.openxmlformats.org/officeDocument/2006/relationships/image" Target="../media/image3.png"/><Relationship Id="rId9" Type="http://schemas.openxmlformats.org/officeDocument/2006/relationships/image" Target="../media/image11.png"/><Relationship Id="rId5" Type="http://schemas.openxmlformats.org/officeDocument/2006/relationships/image" Target="../media/image27.png"/><Relationship Id="rId6" Type="http://schemas.openxmlformats.org/officeDocument/2006/relationships/image" Target="../media/image8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14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10" Type="http://schemas.openxmlformats.org/officeDocument/2006/relationships/image" Target="../media/image21.png"/><Relationship Id="rId9" Type="http://schemas.openxmlformats.org/officeDocument/2006/relationships/image" Target="../media/image26.png"/><Relationship Id="rId5" Type="http://schemas.openxmlformats.org/officeDocument/2006/relationships/image" Target="../media/image5.png"/><Relationship Id="rId6" Type="http://schemas.openxmlformats.org/officeDocument/2006/relationships/image" Target="../media/image37.png"/><Relationship Id="rId7" Type="http://schemas.openxmlformats.org/officeDocument/2006/relationships/image" Target="../media/image23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11" Type="http://schemas.openxmlformats.org/officeDocument/2006/relationships/image" Target="../media/image20.png"/><Relationship Id="rId10" Type="http://schemas.openxmlformats.org/officeDocument/2006/relationships/image" Target="../media/image39.png"/><Relationship Id="rId12" Type="http://schemas.openxmlformats.org/officeDocument/2006/relationships/image" Target="../media/image21.png"/><Relationship Id="rId9" Type="http://schemas.openxmlformats.org/officeDocument/2006/relationships/image" Target="../media/image26.png"/><Relationship Id="rId5" Type="http://schemas.openxmlformats.org/officeDocument/2006/relationships/image" Target="../media/image5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10" Type="http://schemas.openxmlformats.org/officeDocument/2006/relationships/image" Target="../media/image21.png"/><Relationship Id="rId9" Type="http://schemas.openxmlformats.org/officeDocument/2006/relationships/image" Target="../media/image26.png"/><Relationship Id="rId5" Type="http://schemas.openxmlformats.org/officeDocument/2006/relationships/image" Target="../media/image5.png"/><Relationship Id="rId6" Type="http://schemas.openxmlformats.org/officeDocument/2006/relationships/image" Target="../media/image34.png"/><Relationship Id="rId7" Type="http://schemas.openxmlformats.org/officeDocument/2006/relationships/image" Target="../media/image23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32.png"/><Relationship Id="rId13" Type="http://schemas.openxmlformats.org/officeDocument/2006/relationships/image" Target="../media/image38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3.png"/><Relationship Id="rId15" Type="http://schemas.openxmlformats.org/officeDocument/2006/relationships/image" Target="../media/image49.png"/><Relationship Id="rId14" Type="http://schemas.openxmlformats.org/officeDocument/2006/relationships/image" Target="../media/image40.png"/><Relationship Id="rId16" Type="http://schemas.openxmlformats.org/officeDocument/2006/relationships/image" Target="../media/image51.png"/><Relationship Id="rId5" Type="http://schemas.openxmlformats.org/officeDocument/2006/relationships/image" Target="../media/image5.png"/><Relationship Id="rId6" Type="http://schemas.openxmlformats.org/officeDocument/2006/relationships/image" Target="../media/image36.png"/><Relationship Id="rId7" Type="http://schemas.openxmlformats.org/officeDocument/2006/relationships/image" Target="../media/image33.png"/><Relationship Id="rId8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47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57.png"/><Relationship Id="rId5" Type="http://schemas.openxmlformats.org/officeDocument/2006/relationships/image" Target="../media/image5.png"/><Relationship Id="rId6" Type="http://schemas.openxmlformats.org/officeDocument/2006/relationships/image" Target="../media/image46.png"/><Relationship Id="rId7" Type="http://schemas.openxmlformats.org/officeDocument/2006/relationships/image" Target="../media/image66.png"/><Relationship Id="rId8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59.png"/><Relationship Id="rId5" Type="http://schemas.openxmlformats.org/officeDocument/2006/relationships/image" Target="../media/image5.png"/><Relationship Id="rId6" Type="http://schemas.openxmlformats.org/officeDocument/2006/relationships/image" Target="../media/image58.png"/><Relationship Id="rId7" Type="http://schemas.openxmlformats.org/officeDocument/2006/relationships/image" Target="../media/image48.png"/><Relationship Id="rId8" Type="http://schemas.openxmlformats.org/officeDocument/2006/relationships/image" Target="../media/image6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56.png"/><Relationship Id="rId7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5.png"/><Relationship Id="rId7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7000" y="7531100"/>
            <a:ext cx="18542000" cy="2997200"/>
          </a:xfrm>
          <a:prstGeom prst="rect">
            <a:avLst/>
          </a:prstGeom>
          <a:noFill/>
          <a:ln>
            <a:noFill/>
          </a:ln>
          <a:effectLst>
            <a:outerShdw dir="5400000" dist="230245">
              <a:srgbClr val="D8D8D8"/>
            </a:outerShdw>
          </a:effectLst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47800" y="3479800"/>
            <a:ext cx="3302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59200" y="3479800"/>
            <a:ext cx="3302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3000" y="7924800"/>
            <a:ext cx="16002000" cy="1295400"/>
          </a:xfrm>
          <a:prstGeom prst="rect">
            <a:avLst/>
          </a:prstGeom>
          <a:noFill/>
          <a:ln>
            <a:noFill/>
          </a:ln>
          <a:effectLst>
            <a:outerShdw dir="5400000" dist="119617">
              <a:srgbClr val="D8D8D8"/>
            </a:outerShdw>
          </a:effectLst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43000" y="1257300"/>
            <a:ext cx="2286000" cy="622300"/>
          </a:xfrm>
          <a:prstGeom prst="rect">
            <a:avLst/>
          </a:prstGeom>
          <a:noFill/>
          <a:ln>
            <a:noFill/>
          </a:ln>
          <a:effectLst>
            <a:outerShdw dir="5400000" dist="71225">
              <a:srgbClr val="D8D8D8"/>
            </a:outerShdw>
          </a:effectLst>
        </p:spPr>
      </p:pic>
      <p:sp>
        <p:nvSpPr>
          <p:cNvPr id="91" name="Google Shape;91;p1"/>
          <p:cNvSpPr txBox="1"/>
          <p:nvPr/>
        </p:nvSpPr>
        <p:spPr>
          <a:xfrm>
            <a:off x="1397000" y="13843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00" u="none" cap="none" strike="noStrike">
                <a:solidFill>
                  <a:srgbClr val="595959"/>
                </a:solidFill>
                <a:latin typeface="Anek Bangla"/>
                <a:ea typeface="Anek Bangla"/>
                <a:cs typeface="Anek Bangla"/>
                <a:sym typeface="Anek Bangla"/>
              </a:rPr>
              <a:t>2025.09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238500" y="4749800"/>
            <a:ext cx="11811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주제</a:t>
            </a:r>
            <a:r>
              <a:rPr b="0" i="0" lang="ko-KR" sz="9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9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발표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ACEP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638300" y="8369300"/>
            <a:ext cx="150114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팀장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이의빈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|       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팀원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이유환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|       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팀원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최정길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1455400" y="1384300"/>
            <a:ext cx="5676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700" u="none" cap="none" strike="noStrike">
                <a:solidFill>
                  <a:srgbClr val="595959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KONKUK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3975100" y="3111500"/>
            <a:ext cx="10363200" cy="16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전공심화프로젝트</a:t>
            </a:r>
            <a:r>
              <a:rPr b="0" i="0" lang="ko-KR" sz="9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r>
              <a:rPr b="0" i="0" lang="ko-KR" sz="9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9600" y="2209800"/>
            <a:ext cx="11061700" cy="1117600"/>
          </a:xfrm>
          <a:prstGeom prst="rect">
            <a:avLst/>
          </a:prstGeom>
          <a:noFill/>
          <a:ln>
            <a:noFill/>
          </a:ln>
          <a:effectLst>
            <a:outerShdw dir="5400000" dist="128365">
              <a:srgbClr val="E6E6E6"/>
            </a:outerShdw>
          </a:effectLst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9600" y="3657600"/>
            <a:ext cx="11061700" cy="1117600"/>
          </a:xfrm>
          <a:prstGeom prst="rect">
            <a:avLst/>
          </a:prstGeom>
          <a:noFill/>
          <a:ln>
            <a:noFill/>
          </a:ln>
          <a:effectLst>
            <a:outerShdw dir="5400000" dist="128365">
              <a:srgbClr val="E6E6E6"/>
            </a:outerShdw>
          </a:effectLst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9600" y="5105400"/>
            <a:ext cx="11061700" cy="1117600"/>
          </a:xfrm>
          <a:prstGeom prst="rect">
            <a:avLst/>
          </a:prstGeom>
          <a:noFill/>
          <a:ln>
            <a:noFill/>
          </a:ln>
          <a:effectLst>
            <a:outerShdw dir="5400000" dist="128365">
              <a:srgbClr val="E6E6E6"/>
            </a:outerShdw>
          </a:effectLst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9600" y="6540500"/>
            <a:ext cx="11061700" cy="1117600"/>
          </a:xfrm>
          <a:prstGeom prst="rect">
            <a:avLst/>
          </a:prstGeom>
          <a:noFill/>
          <a:ln>
            <a:noFill/>
          </a:ln>
          <a:effectLst>
            <a:outerShdw dir="5400000" dist="128365">
              <a:srgbClr val="E6E6E6"/>
            </a:outerShdw>
          </a:effectLst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76900" y="7988300"/>
            <a:ext cx="11061700" cy="1117600"/>
          </a:xfrm>
          <a:prstGeom prst="rect">
            <a:avLst/>
          </a:prstGeom>
          <a:noFill/>
          <a:ln>
            <a:noFill/>
          </a:ln>
          <a:effectLst>
            <a:outerShdw dir="5400000" dist="128365">
              <a:srgbClr val="E6E6E6"/>
            </a:outerShdw>
          </a:effectLst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2100" y="1803400"/>
            <a:ext cx="139700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7454900" y="8280400"/>
            <a:ext cx="858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팀원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역할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분담</a:t>
            </a:r>
            <a:endParaRPr/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21300" y="7696200"/>
            <a:ext cx="2489200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ACEP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498600" y="1905000"/>
            <a:ext cx="31623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803400" y="1625600"/>
            <a:ext cx="30988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700" u="none" cap="none" strike="noStrike">
                <a:solidFill>
                  <a:srgbClr val="A0A0A0"/>
                </a:solidFill>
                <a:latin typeface="Anek Bangla"/>
                <a:ea typeface="Anek Bangla"/>
                <a:cs typeface="Anek Bangla"/>
                <a:sym typeface="Anek Bangla"/>
              </a:rPr>
              <a:t>INDEX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7454900" y="2501900"/>
            <a:ext cx="858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주제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</a:t>
            </a:r>
            <a:endParaRPr/>
          </a:p>
        </p:txBody>
      </p:sp>
      <p:pic>
        <p:nvPicPr>
          <p:cNvPr id="115" name="Google Shape;11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57800" y="1917700"/>
            <a:ext cx="2540000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7454900" y="3949700"/>
            <a:ext cx="858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주제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선정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배경</a:t>
            </a:r>
            <a:endParaRPr/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08600" y="3365500"/>
            <a:ext cx="2501900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 txBox="1"/>
          <p:nvPr/>
        </p:nvSpPr>
        <p:spPr>
          <a:xfrm>
            <a:off x="7454900" y="5397500"/>
            <a:ext cx="858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핵심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기능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시나리오</a:t>
            </a:r>
            <a:endParaRPr/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21300" y="4813300"/>
            <a:ext cx="2501900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7454900" y="6832600"/>
            <a:ext cx="858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기대효과</a:t>
            </a:r>
            <a:endParaRPr/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34000" y="6248400"/>
            <a:ext cx="2501900" cy="20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701800"/>
            <a:ext cx="16002000" cy="1181100"/>
          </a:xfrm>
          <a:prstGeom prst="rect">
            <a:avLst/>
          </a:prstGeom>
          <a:noFill/>
          <a:ln>
            <a:noFill/>
          </a:ln>
          <a:effectLst>
            <a:outerShdw dir="5400000" dist="126586">
              <a:srgbClr val="D8D8D8"/>
            </a:outerShdw>
          </a:effectLst>
        </p:spPr>
      </p:pic>
      <p:pic>
        <p:nvPicPr>
          <p:cNvPr id="129" name="Google Shape;12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4470400"/>
            <a:ext cx="16002000" cy="48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18200" y="3416300"/>
            <a:ext cx="2667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103100" y="3505200"/>
            <a:ext cx="2667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주제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</a:t>
            </a:r>
            <a:endParaRPr/>
          </a:p>
        </p:txBody>
      </p:sp>
      <p:pic>
        <p:nvPicPr>
          <p:cNvPr id="133" name="Google Shape;133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9300" y="1244600"/>
            <a:ext cx="27813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MIRI COMPANY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1803400" y="6667500"/>
            <a:ext cx="1473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>
                <a:latin typeface="Calibri"/>
                <a:ea typeface="Calibri"/>
                <a:cs typeface="Calibri"/>
                <a:sym typeface="Calibri"/>
              </a:rPr>
              <a:t>사용자가 입력한 특정 상품 페이지에서 긍정/부정 리뷰를 크롤링하여, 그 데이터를 AI를 이용해 분석 및 요약 후 선택한 키워드를 중심으로 보여주는 웹 서비스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>
                <a:latin typeface="Calibri"/>
                <a:ea typeface="Calibri"/>
                <a:cs typeface="Calibri"/>
                <a:sym typeface="Calibri"/>
              </a:rPr>
              <a:t>소비자가 원하는 관점에서 빠르게 제품의 장단점을 파악하고, 객관적으로 판단할 수 있도록 돕는 리뷰 분석 도구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146800" y="3479800"/>
            <a:ext cx="6007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r>
              <a:rPr b="0" i="0" lang="ko-KR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중심</a:t>
            </a:r>
            <a:r>
              <a:rPr b="0" i="0" lang="ko-KR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0" i="0" lang="ko-KR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r>
              <a:rPr b="0" i="0" lang="ko-KR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ko-KR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</a:t>
            </a:r>
            <a:r>
              <a:rPr b="0" i="0" lang="ko-KR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프로그램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701800"/>
            <a:ext cx="16002000" cy="1181100"/>
          </a:xfrm>
          <a:prstGeom prst="rect">
            <a:avLst/>
          </a:prstGeom>
          <a:noFill/>
          <a:ln>
            <a:noFill/>
          </a:ln>
          <a:effectLst>
            <a:outerShdw dir="5400000" dist="126586">
              <a:srgbClr val="E6E6E6"/>
            </a:outerShdw>
          </a:effectLst>
        </p:spPr>
      </p:pic>
      <p:pic>
        <p:nvPicPr>
          <p:cNvPr id="144" name="Google Shape;14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3517900"/>
            <a:ext cx="9207500" cy="55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6100" y="3517900"/>
            <a:ext cx="6438900" cy="2057400"/>
          </a:xfrm>
          <a:prstGeom prst="rect">
            <a:avLst/>
          </a:prstGeom>
          <a:noFill/>
          <a:ln>
            <a:noFill/>
          </a:ln>
          <a:effectLst>
            <a:outerShdw dir="5400000" dist="126362">
              <a:srgbClr val="E6E6E6"/>
            </a:outerShdw>
          </a:effectLst>
        </p:spPr>
      </p:pic>
      <p:pic>
        <p:nvPicPr>
          <p:cNvPr id="146" name="Google Shape;14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01400" y="3797300"/>
            <a:ext cx="2667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383000" y="3886200"/>
            <a:ext cx="2667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 txBox="1"/>
          <p:nvPr/>
        </p:nvSpPr>
        <p:spPr>
          <a:xfrm>
            <a:off x="2908300" y="1828800"/>
            <a:ext cx="14224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주제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선정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동기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소비자가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원하는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리뷰를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찾게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하자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2800" y="1244600"/>
            <a:ext cx="27305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ACEP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11074400" y="4127500"/>
            <a:ext cx="56261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과부화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10845800" y="5969000"/>
            <a:ext cx="6210300" cy="30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대해서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약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4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천개의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존재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다른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제품들의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리뷰까지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합하면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만개의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존재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많을수록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원하는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정보를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찾기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어려움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모든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읽을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없고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많은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읽으며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시간을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낭비하게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됨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결국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원치않던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결정할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있음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701800"/>
            <a:ext cx="16002000" cy="1181100"/>
          </a:xfrm>
          <a:prstGeom prst="rect">
            <a:avLst/>
          </a:prstGeom>
          <a:noFill/>
          <a:ln>
            <a:noFill/>
          </a:ln>
          <a:effectLst>
            <a:outerShdw dir="5400000" dist="126586">
              <a:srgbClr val="E6E6E6"/>
            </a:outerShdw>
          </a:effectLst>
        </p:spPr>
      </p:pic>
      <p:pic>
        <p:nvPicPr>
          <p:cNvPr id="160" name="Google Shape;16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3517900"/>
            <a:ext cx="92075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6100" y="3517900"/>
            <a:ext cx="6438900" cy="2057400"/>
          </a:xfrm>
          <a:prstGeom prst="rect">
            <a:avLst/>
          </a:prstGeom>
          <a:noFill/>
          <a:ln>
            <a:noFill/>
          </a:ln>
          <a:effectLst>
            <a:outerShdw dir="5400000" dist="126362">
              <a:srgbClr val="E6E6E6"/>
            </a:outerShdw>
          </a:effectLst>
        </p:spPr>
      </p:pic>
      <p:pic>
        <p:nvPicPr>
          <p:cNvPr id="162" name="Google Shape;16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01400" y="3797300"/>
            <a:ext cx="2667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383000" y="3886200"/>
            <a:ext cx="2667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0300" y="6540500"/>
            <a:ext cx="92075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098800" y="3797300"/>
            <a:ext cx="9271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주제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선정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동기</a:t>
            </a:r>
            <a:endParaRPr/>
          </a:p>
        </p:txBody>
      </p:sp>
      <p:pic>
        <p:nvPicPr>
          <p:cNvPr id="167" name="Google Shape;167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2800" y="1244600"/>
            <a:ext cx="27305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ACEP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11074400" y="3898900"/>
            <a:ext cx="56261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별점만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있는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endParaRPr/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주관적인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10845800" y="6858000"/>
            <a:ext cx="62103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상품에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정보는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없고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주관적인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감정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존재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정보는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없고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별점만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있는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상당수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존재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701800"/>
            <a:ext cx="16002000" cy="1181100"/>
          </a:xfrm>
          <a:prstGeom prst="rect">
            <a:avLst/>
          </a:prstGeom>
          <a:noFill/>
          <a:ln>
            <a:noFill/>
          </a:ln>
          <a:effectLst>
            <a:outerShdw dir="5400000" dist="126586">
              <a:srgbClr val="E6E6E6"/>
            </a:outerShdw>
          </a:effectLst>
        </p:spPr>
      </p:pic>
      <p:pic>
        <p:nvPicPr>
          <p:cNvPr id="178" name="Google Shape;17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3517900"/>
            <a:ext cx="9207500" cy="55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6100" y="3517900"/>
            <a:ext cx="6438900" cy="2057400"/>
          </a:xfrm>
          <a:prstGeom prst="rect">
            <a:avLst/>
          </a:prstGeom>
          <a:noFill/>
          <a:ln>
            <a:noFill/>
          </a:ln>
          <a:effectLst>
            <a:outerShdw dir="5400000" dist="126362">
              <a:srgbClr val="E6E6E6"/>
            </a:outerShdw>
          </a:effectLst>
        </p:spPr>
      </p:pic>
      <p:pic>
        <p:nvPicPr>
          <p:cNvPr id="180" name="Google Shape;18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01400" y="3797300"/>
            <a:ext cx="2667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383000" y="3886200"/>
            <a:ext cx="2667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주제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선정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동기</a:t>
            </a:r>
            <a:endParaRPr/>
          </a:p>
        </p:txBody>
      </p:sp>
      <p:pic>
        <p:nvPicPr>
          <p:cNvPr id="183" name="Google Shape;183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2800" y="1244600"/>
            <a:ext cx="27305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ACEP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11074400" y="4051300"/>
            <a:ext cx="56261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소비자가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제품에서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원하는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품질에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리뷰가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없음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10845800" y="6299200"/>
            <a:ext cx="6210300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모니터를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구매할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때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모니터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프레임을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중요하게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생각할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있음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이러한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내용은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모니터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무게에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많다면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소비자는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해당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찾기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어려움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701800"/>
            <a:ext cx="16002000" cy="1181100"/>
          </a:xfrm>
          <a:prstGeom prst="rect">
            <a:avLst/>
          </a:prstGeom>
          <a:noFill/>
          <a:ln>
            <a:noFill/>
          </a:ln>
          <a:effectLst>
            <a:outerShdw dir="5400000" dist="126586">
              <a:srgbClr val="E6E6E6"/>
            </a:outerShdw>
          </a:effectLst>
        </p:spPr>
      </p:pic>
      <p:pic>
        <p:nvPicPr>
          <p:cNvPr id="194" name="Google Shape;19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500" y="1244600"/>
            <a:ext cx="27178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3695700"/>
            <a:ext cx="3289300" cy="5168900"/>
          </a:xfrm>
          <a:prstGeom prst="rect">
            <a:avLst/>
          </a:prstGeom>
          <a:noFill/>
          <a:ln>
            <a:noFill/>
          </a:ln>
          <a:effectLst>
            <a:outerShdw dir="5400000" dist="126269">
              <a:srgbClr val="E6E6E6"/>
            </a:outerShdw>
          </a:effectLst>
        </p:spPr>
      </p:pic>
      <p:pic>
        <p:nvPicPr>
          <p:cNvPr id="196" name="Google Shape;19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92300" y="4673600"/>
            <a:ext cx="1778000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-330200" y="7861300"/>
            <a:ext cx="10033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8200" y="6019800"/>
            <a:ext cx="5080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90000" y="6019800"/>
            <a:ext cx="5080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119100" y="6019800"/>
            <a:ext cx="5080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84800" y="3695700"/>
            <a:ext cx="3289300" cy="5168900"/>
          </a:xfrm>
          <a:prstGeom prst="rect">
            <a:avLst/>
          </a:prstGeom>
          <a:noFill/>
          <a:ln>
            <a:noFill/>
          </a:ln>
          <a:effectLst>
            <a:outerShdw dir="5400000" dist="126269">
              <a:srgbClr val="E6E6E6"/>
            </a:outerShdw>
          </a:effectLst>
        </p:spPr>
      </p:pic>
      <p:pic>
        <p:nvPicPr>
          <p:cNvPr id="202" name="Google Shape;202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34100" y="4673600"/>
            <a:ext cx="1778000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855700" y="3695700"/>
            <a:ext cx="3289300" cy="5168900"/>
          </a:xfrm>
          <a:prstGeom prst="rect">
            <a:avLst/>
          </a:prstGeom>
          <a:noFill/>
          <a:ln>
            <a:noFill/>
          </a:ln>
          <a:effectLst>
            <a:outerShdw dir="5400000" dist="126269">
              <a:srgbClr val="E6E6E6"/>
            </a:outerShdw>
          </a:effectLst>
        </p:spPr>
      </p:pic>
      <p:pic>
        <p:nvPicPr>
          <p:cNvPr id="204" name="Google Shape;204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617700" y="4673600"/>
            <a:ext cx="1778000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13900" y="3695700"/>
            <a:ext cx="3289300" cy="5168900"/>
          </a:xfrm>
          <a:prstGeom prst="rect">
            <a:avLst/>
          </a:prstGeom>
          <a:noFill/>
          <a:ln>
            <a:noFill/>
          </a:ln>
          <a:effectLst>
            <a:outerShdw dir="5400000" dist="126269">
              <a:srgbClr val="E6E6E6"/>
            </a:outerShdw>
          </a:effectLst>
        </p:spPr>
      </p:pic>
      <p:pic>
        <p:nvPicPr>
          <p:cNvPr id="206" name="Google Shape;20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75900" y="4673600"/>
            <a:ext cx="1778000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56900" y="5041900"/>
            <a:ext cx="10033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036800" y="5029200"/>
            <a:ext cx="10033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286000" y="5054600"/>
            <a:ext cx="10033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27800" y="5054600"/>
            <a:ext cx="1003300" cy="10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 txBox="1"/>
          <p:nvPr/>
        </p:nvSpPr>
        <p:spPr>
          <a:xfrm>
            <a:off x="10134600" y="66802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</a:t>
            </a:r>
            <a:r>
              <a:rPr b="0" i="0" lang="ko-KR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추천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10033000" y="7607300"/>
            <a:ext cx="2514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사용자에게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적절한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다른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비슷한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제품을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추천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10147300" y="3810000"/>
            <a:ext cx="2222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FFFFFF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STEP 3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핵심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기능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ACEP</a:t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1663700" y="66802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0" i="0" lang="ko-KR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추출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1549400" y="7607300"/>
            <a:ext cx="2514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쿠팡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제품의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많은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리뷰들을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분석을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위해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추출</a:t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1676400" y="3810000"/>
            <a:ext cx="2222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FFFFFF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STEP 1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5892800" y="66802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0" i="0" lang="ko-KR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필터링</a:t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5791200" y="7607300"/>
            <a:ext cx="2514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추출한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리뷰들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중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불필요한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필터링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5905500" y="3810000"/>
            <a:ext cx="2222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FFFFFF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STEP 2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14376400" y="66802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개인</a:t>
            </a:r>
            <a:r>
              <a:rPr b="0" i="0" lang="ko-KR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라이브러리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14262100" y="7607300"/>
            <a:ext cx="2514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사용자의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기록을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보관하는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라이브러리</a:t>
            </a: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제공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14389100" y="3810000"/>
            <a:ext cx="2222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FFFFFF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STEP 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701800"/>
            <a:ext cx="16002000" cy="1181100"/>
          </a:xfrm>
          <a:prstGeom prst="rect">
            <a:avLst/>
          </a:prstGeom>
          <a:noFill/>
          <a:ln>
            <a:noFill/>
          </a:ln>
          <a:effectLst>
            <a:outerShdw dir="5400000" dist="126586">
              <a:srgbClr val="E6E6E6"/>
            </a:outerShdw>
          </a:effectLst>
        </p:spPr>
      </p:pic>
      <p:pic>
        <p:nvPicPr>
          <p:cNvPr id="232" name="Google Shape;23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2971800"/>
            <a:ext cx="5791200" cy="6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30200" y="3162300"/>
            <a:ext cx="4114800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16900" y="3975100"/>
            <a:ext cx="18542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16900" y="6985000"/>
            <a:ext cx="18542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7581900" y="3873500"/>
            <a:ext cx="2032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26800" y="2984500"/>
            <a:ext cx="6172200" cy="654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0600" y="2946400"/>
            <a:ext cx="6172200" cy="65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5400000">
            <a:off x="10515600" y="6896100"/>
            <a:ext cx="203200" cy="92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프로그램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시나리오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유저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시나리오</a:t>
            </a:r>
            <a:endParaRPr/>
          </a:p>
        </p:txBody>
      </p:sp>
      <p:pic>
        <p:nvPicPr>
          <p:cNvPr id="241" name="Google Shape;241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5500" y="1244600"/>
            <a:ext cx="27178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ACEP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8356600" y="4025900"/>
            <a:ext cx="163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8750300" y="7086600"/>
            <a:ext cx="850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701800"/>
            <a:ext cx="16002000" cy="1181100"/>
          </a:xfrm>
          <a:prstGeom prst="rect">
            <a:avLst/>
          </a:prstGeom>
          <a:noFill/>
          <a:ln>
            <a:noFill/>
          </a:ln>
          <a:effectLst>
            <a:outerShdw dir="5400000" dist="126586">
              <a:srgbClr val="E6E6E6"/>
            </a:outerShdw>
          </a:effectLst>
        </p:spPr>
      </p:pic>
      <p:pic>
        <p:nvPicPr>
          <p:cNvPr id="252" name="Google Shape;25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7175500"/>
            <a:ext cx="16002000" cy="21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3365500"/>
            <a:ext cx="7848600" cy="2768600"/>
          </a:xfrm>
          <a:prstGeom prst="rect">
            <a:avLst/>
          </a:prstGeom>
          <a:noFill/>
          <a:ln>
            <a:noFill/>
          </a:ln>
          <a:effectLst>
            <a:outerShdw dir="5400000" dist="128059">
              <a:srgbClr val="E6E6E6"/>
            </a:outerShdw>
          </a:effectLst>
        </p:spPr>
      </p:pic>
      <p:pic>
        <p:nvPicPr>
          <p:cNvPr id="254" name="Google Shape;25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4673600" y="6210300"/>
            <a:ext cx="787400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73300" y="7493000"/>
            <a:ext cx="5575300" cy="596900"/>
          </a:xfrm>
          <a:prstGeom prst="rect">
            <a:avLst/>
          </a:prstGeom>
          <a:noFill/>
          <a:ln>
            <a:noFill/>
          </a:ln>
          <a:effectLst>
            <a:outerShdw dir="5400000" dist="91329">
              <a:srgbClr val="D8D8D8"/>
            </a:outerShdw>
          </a:effectLst>
        </p:spPr>
      </p:pic>
      <p:pic>
        <p:nvPicPr>
          <p:cNvPr id="256" name="Google Shape;25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83700" y="3365500"/>
            <a:ext cx="7848600" cy="2768600"/>
          </a:xfrm>
          <a:prstGeom prst="rect">
            <a:avLst/>
          </a:prstGeom>
          <a:noFill/>
          <a:ln>
            <a:noFill/>
          </a:ln>
          <a:effectLst>
            <a:outerShdw dir="5400000" dist="128059">
              <a:srgbClr val="E6E6E6"/>
            </a:outerShdw>
          </a:effectLst>
        </p:spPr>
      </p:pic>
      <p:pic>
        <p:nvPicPr>
          <p:cNvPr id="257" name="Google Shape;25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12827000" y="6210300"/>
            <a:ext cx="787400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8610600" y="8216900"/>
            <a:ext cx="10668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기대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효과</a:t>
            </a:r>
            <a:endParaRPr/>
          </a:p>
        </p:txBody>
      </p:sp>
      <p:pic>
        <p:nvPicPr>
          <p:cNvPr id="260" name="Google Shape;260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8200" y="1244600"/>
            <a:ext cx="27305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ACEP</a:t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2247900" y="3467100"/>
            <a:ext cx="56261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사용자가</a:t>
            </a:r>
            <a:r>
              <a:rPr b="0" i="0" lang="ko-KR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원하는</a:t>
            </a:r>
            <a:r>
              <a:rPr b="0" i="0" lang="ko-KR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0" i="0" lang="ko-KR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제공</a:t>
            </a:r>
            <a:r>
              <a:rPr b="0" i="0" lang="ko-KR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endParaRPr/>
          </a:p>
        </p:txBody>
      </p:sp>
      <p:sp>
        <p:nvSpPr>
          <p:cNvPr id="263" name="Google Shape;263;p9"/>
          <p:cNvSpPr txBox="1"/>
          <p:nvPr/>
        </p:nvSpPr>
        <p:spPr>
          <a:xfrm>
            <a:off x="1473200" y="4394200"/>
            <a:ext cx="72390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정보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과부화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해결</a:t>
            </a:r>
            <a:endParaRPr/>
          </a:p>
          <a:p>
            <a:pPr indent="-342900" lvl="0" marL="3429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객관적인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정보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제공</a:t>
            </a:r>
            <a:endParaRPr/>
          </a:p>
          <a:p>
            <a:pPr indent="-342900" lvl="0" marL="3429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찾는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감소</a:t>
            </a:r>
            <a:endParaRPr/>
          </a:p>
        </p:txBody>
      </p:sp>
      <p:sp>
        <p:nvSpPr>
          <p:cNvPr id="264" name="Google Shape;264;p9"/>
          <p:cNvSpPr txBox="1"/>
          <p:nvPr/>
        </p:nvSpPr>
        <p:spPr>
          <a:xfrm>
            <a:off x="9626600" y="7607300"/>
            <a:ext cx="7239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원하는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제공합니다</a:t>
            </a:r>
            <a:endParaRPr/>
          </a:p>
          <a:p>
            <a:pPr indent="-342900" lvl="0" marL="3429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개인에게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맞춤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서비스를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제공합니다</a:t>
            </a:r>
            <a:endParaRPr/>
          </a:p>
          <a:p>
            <a:pPr indent="-342900" lvl="0" marL="3429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좋은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기반을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제공합니다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1841500" y="8293100"/>
            <a:ext cx="6400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사용자가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더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좋은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소비를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할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있도록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3848100" y="7607300"/>
            <a:ext cx="2413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FINAL GOAL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10401300" y="3467100"/>
            <a:ext cx="56261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개인</a:t>
            </a:r>
            <a:r>
              <a:rPr b="0" i="0" lang="ko-KR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맞춤</a:t>
            </a:r>
            <a:r>
              <a:rPr b="0" i="0" lang="ko-KR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endParaRPr/>
          </a:p>
        </p:txBody>
      </p:sp>
      <p:sp>
        <p:nvSpPr>
          <p:cNvPr id="268" name="Google Shape;268;p9"/>
          <p:cNvSpPr txBox="1"/>
          <p:nvPr/>
        </p:nvSpPr>
        <p:spPr>
          <a:xfrm>
            <a:off x="9626600" y="4394200"/>
            <a:ext cx="72390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원하는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좋은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추천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검색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기록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저장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701800"/>
            <a:ext cx="16002000" cy="1181100"/>
          </a:xfrm>
          <a:prstGeom prst="rect">
            <a:avLst/>
          </a:prstGeom>
          <a:noFill/>
          <a:ln>
            <a:noFill/>
          </a:ln>
          <a:effectLst>
            <a:outerShdw dir="5400000" dist="126586">
              <a:srgbClr val="D8D8D8"/>
            </a:outerShdw>
          </a:effectLst>
        </p:spPr>
      </p:pic>
      <p:pic>
        <p:nvPicPr>
          <p:cNvPr id="276" name="Google Shape;27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3530600"/>
            <a:ext cx="16002000" cy="13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0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팀원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역할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분담</a:t>
            </a:r>
            <a:endParaRPr/>
          </a:p>
        </p:txBody>
      </p:sp>
      <p:pic>
        <p:nvPicPr>
          <p:cNvPr id="278" name="Google Shape;27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1244600"/>
            <a:ext cx="27178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0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ACEP</a:t>
            </a:r>
            <a:endParaRPr/>
          </a:p>
        </p:txBody>
      </p:sp>
      <p:sp>
        <p:nvSpPr>
          <p:cNvPr id="280" name="Google Shape;280;p10"/>
          <p:cNvSpPr txBox="1"/>
          <p:nvPr/>
        </p:nvSpPr>
        <p:spPr>
          <a:xfrm>
            <a:off x="1803400" y="3987800"/>
            <a:ext cx="1473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이의빈</a:t>
            </a: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</a:t>
            </a:r>
            <a:endParaRPr/>
          </a:p>
        </p:txBody>
      </p:sp>
      <p:pic>
        <p:nvPicPr>
          <p:cNvPr id="281" name="Google Shape;28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5651500"/>
            <a:ext cx="16002000" cy="13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 txBox="1"/>
          <p:nvPr/>
        </p:nvSpPr>
        <p:spPr>
          <a:xfrm>
            <a:off x="1803400" y="6108700"/>
            <a:ext cx="1473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이유환</a:t>
            </a: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</a:t>
            </a:r>
            <a:endParaRPr/>
          </a:p>
        </p:txBody>
      </p:sp>
      <p:pic>
        <p:nvPicPr>
          <p:cNvPr id="283" name="Google Shape;28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7848600"/>
            <a:ext cx="16002000" cy="13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0"/>
          <p:cNvSpPr txBox="1"/>
          <p:nvPr/>
        </p:nvSpPr>
        <p:spPr>
          <a:xfrm>
            <a:off x="1803400" y="8305800"/>
            <a:ext cx="1473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최정길</a:t>
            </a: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00" y="533400"/>
            <a:ext cx="16941800" cy="92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701800"/>
            <a:ext cx="16002000" cy="1181100"/>
          </a:xfrm>
          <a:prstGeom prst="rect">
            <a:avLst/>
          </a:prstGeom>
          <a:noFill/>
          <a:ln>
            <a:noFill/>
          </a:ln>
          <a:effectLst>
            <a:outerShdw dir="5400000" dist="126586">
              <a:srgbClr val="E6E6E6"/>
            </a:outerShdw>
          </a:effectLst>
        </p:spPr>
      </p:pic>
      <p:sp>
        <p:nvSpPr>
          <p:cNvPr id="292" name="Google Shape;292;p11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추가</a:t>
            </a: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사항</a:t>
            </a:r>
            <a:endParaRPr/>
          </a:p>
        </p:txBody>
      </p:sp>
      <p:pic>
        <p:nvPicPr>
          <p:cNvPr id="293" name="Google Shape;29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1244600"/>
            <a:ext cx="25273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1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rgbClr val="000000"/>
                </a:solidFill>
                <a:latin typeface="Anek Bangla"/>
                <a:ea typeface="Anek Bangla"/>
                <a:cs typeface="Anek Bangla"/>
                <a:sym typeface="Anek Bangla"/>
              </a:rPr>
              <a:t>ACEP</a:t>
            </a:r>
            <a:endParaRPr/>
          </a:p>
        </p:txBody>
      </p:sp>
      <p:pic>
        <p:nvPicPr>
          <p:cNvPr id="295" name="Google Shape;29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3530600"/>
            <a:ext cx="4610100" cy="1447800"/>
          </a:xfrm>
          <a:prstGeom prst="rect">
            <a:avLst/>
          </a:prstGeom>
          <a:noFill/>
          <a:ln>
            <a:noFill/>
          </a:ln>
          <a:effectLst>
            <a:outerShdw dir="5400000" dist="89030">
              <a:srgbClr val="E6E6E6"/>
            </a:outerShdw>
          </a:effectLst>
        </p:spPr>
      </p:pic>
      <p:sp>
        <p:nvSpPr>
          <p:cNvPr id="296" name="Google Shape;296;p11"/>
          <p:cNvSpPr txBox="1"/>
          <p:nvPr/>
        </p:nvSpPr>
        <p:spPr>
          <a:xfrm>
            <a:off x="1295400" y="6311900"/>
            <a:ext cx="4521200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기존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시스템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별점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등의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시스템으로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분류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우리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중심으로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원하는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검색할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있음</a:t>
            </a:r>
            <a:endParaRPr/>
          </a:p>
        </p:txBody>
      </p:sp>
      <p:sp>
        <p:nvSpPr>
          <p:cNvPr id="297" name="Google Shape;297;p11"/>
          <p:cNvSpPr txBox="1"/>
          <p:nvPr/>
        </p:nvSpPr>
        <p:spPr>
          <a:xfrm>
            <a:off x="6985000" y="5867400"/>
            <a:ext cx="4521200" cy="30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타겟층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쿠팡에서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물건을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구입하려는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b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전자제품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식품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화장품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등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많은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제품이라면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모두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가능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건강한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소비를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하고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싶은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소비자에게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도움을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것으로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생각</a:t>
            </a:r>
            <a:endParaRPr/>
          </a:p>
        </p:txBody>
      </p:sp>
      <p:sp>
        <p:nvSpPr>
          <p:cNvPr id="298" name="Google Shape;298;p11"/>
          <p:cNvSpPr txBox="1"/>
          <p:nvPr/>
        </p:nvSpPr>
        <p:spPr>
          <a:xfrm>
            <a:off x="1346200" y="3835400"/>
            <a:ext cx="41275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창의성</a:t>
            </a:r>
            <a:endParaRPr/>
          </a:p>
        </p:txBody>
      </p:sp>
      <p:pic>
        <p:nvPicPr>
          <p:cNvPr id="299" name="Google Shape;29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32600" y="3530600"/>
            <a:ext cx="4610100" cy="1447800"/>
          </a:xfrm>
          <a:prstGeom prst="rect">
            <a:avLst/>
          </a:prstGeom>
          <a:noFill/>
          <a:ln>
            <a:noFill/>
          </a:ln>
          <a:effectLst>
            <a:outerShdw dir="5400000" dist="89030">
              <a:srgbClr val="E6E6E6"/>
            </a:outerShdw>
          </a:effectLst>
        </p:spPr>
      </p:pic>
      <p:sp>
        <p:nvSpPr>
          <p:cNvPr id="300" name="Google Shape;300;p11"/>
          <p:cNvSpPr txBox="1"/>
          <p:nvPr/>
        </p:nvSpPr>
        <p:spPr>
          <a:xfrm>
            <a:off x="7048500" y="3835400"/>
            <a:ext cx="41275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활용성</a:t>
            </a:r>
            <a:endParaRPr/>
          </a:p>
        </p:txBody>
      </p:sp>
      <p:sp>
        <p:nvSpPr>
          <p:cNvPr id="301" name="Google Shape;301;p11"/>
          <p:cNvSpPr txBox="1"/>
          <p:nvPr/>
        </p:nvSpPr>
        <p:spPr>
          <a:xfrm>
            <a:off x="12674600" y="6756400"/>
            <a:ext cx="45212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크롤링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처리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UI/UX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등의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기술들이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필요하며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팀원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역할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분담을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통해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학기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동안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가능할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것으로</a:t>
            </a: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예상</a:t>
            </a:r>
            <a:endParaRPr/>
          </a:p>
        </p:txBody>
      </p:sp>
      <p:pic>
        <p:nvPicPr>
          <p:cNvPr id="302" name="Google Shape;30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34900" y="3530600"/>
            <a:ext cx="4610100" cy="1447800"/>
          </a:xfrm>
          <a:prstGeom prst="rect">
            <a:avLst/>
          </a:prstGeom>
          <a:noFill/>
          <a:ln>
            <a:noFill/>
          </a:ln>
          <a:effectLst>
            <a:outerShdw dir="5400000" dist="89030">
              <a:srgbClr val="E6E6E6"/>
            </a:outerShdw>
          </a:effectLst>
        </p:spPr>
      </p:pic>
      <p:sp>
        <p:nvSpPr>
          <p:cNvPr id="303" name="Google Shape;303;p11"/>
          <p:cNvSpPr txBox="1"/>
          <p:nvPr/>
        </p:nvSpPr>
        <p:spPr>
          <a:xfrm>
            <a:off x="12738100" y="3835400"/>
            <a:ext cx="41275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가능성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