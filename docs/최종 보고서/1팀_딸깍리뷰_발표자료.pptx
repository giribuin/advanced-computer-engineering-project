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d614cd5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d614cd5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f35d9989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f35d9989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리뷰가 너무 많다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객관성있는 리뷰를 찾기 어ㄹ렵다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70d4f7e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70d4f7e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리뷰가 너무 많다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객관성있는 리뷰를 찾기 어ㄹ렵다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f35d998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f35d998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시연할 부분만 설명하라고 하셨습니다.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검색 -&gt; 추천상품 조회 -&gt; 저장 -&gt; 라이브러리 조회 순으로 요구사항을 설명하면 될 것 같습니다.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검색: 사용자의 URL, Keyword를 입력받고 크롤링, 스크래핑을 진행하는 단계입니다.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검색이 끝난 후 사용자는 결과 화면을 보게 됩니다. 결과 화면에는 검색한 상품에 대한 긍정적, 부정적 리뷰 같이 요약 정보가 나옵니다.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이때 사용자는 저장과 추천상품조회를 선택할 수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그냥 저장을  하는 경우 추천상품의 정보가 라이브러리에 저장되지 않습니다.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추천상품을 조회하는 경우 다시한번 링크를 크롤링합니다.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 후 사용자는 저장 여부를 선택할 수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라이브러리에는 사용자가 분석한 결과가 나타납니다.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f35d9989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f35d9989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웹 서버 모듈 : 사용자 요청은 가장 먼저 웹 서버 flask 모듈에 도착. 들어온 요청에 대해 ‘인증에 관한 것인지 아니면 ‘분석’에 관한 것 인지만 판단하고, 퍼사드 모듈에게 작업을 전달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퍼사드 모듈: ‘딸각 리뷰’ 서비스에는 하나의 기능을 수행하기 위해서는 DB와도 연결되어야 하고, 크롤링 모듈, AI 모듈에도 연결이 되어야 함. 웹 서버 모듈에서 담당하기에는 코드가 지저분해지므로, 퍼사드 모듈을 통해 작업들을 지시하도록 함. 최종적으로 중요한 로직을 숨길수도 있도, 각 모듈간의 결합도를 낮춰서 시스템이 유연하게 확장될 수 있는 구조를 택함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크롤링, AI, DB 모듈: 각자의 역할만 수행하는 모듈들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f35d99890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f35d9989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웹 서버 모듈 : 사용자 요청은 가장 먼저 웹 서버 flask 모듈에 도착. 들어온 요청에 대해 ‘인증에 관한 것인지 아니면 ‘분석’에 관한 것 인지만 판단하고, 퍼사드 모듈에게 작업을 전달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퍼사드 모듈: ‘딸각 리뷰’ 서비스에는 하나의 기능을 수행하기 위해서는 DB와도 연결되어야 하고, 크롤링 모듈, AI 모듈에도 연결이 되어야 함. 웹 서버 모듈에서 담당하기에는 코드가 지저분해지므로, 퍼사드 모듈을 통해 작업들을 지시하도록 함. 최종적으로 중요한 로직을 숨길수도 있도, 각 모듈간의 결합도를 낮춰서 시스템이 유연하게 확장될 수 있는 구조를 택함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크롤링, AI, DB 모듈: 각자의 역할만 수행하는 모듈들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f35d9989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f35d9989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f35d99890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f35d9989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주요 장면 이미지 넣어주세요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f35d99890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f35d99890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주요 장면 이미지 넣어주세요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70d4f7e2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70d4f7e2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주요 장면 이미지 넣어주세요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f35d9989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f35d9989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쿠팡 봇 차단 문제에 의존적인 시스템이라서 실시간 테스팅을 하기에 제약이 컸음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image" Target="../media/image2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2500">
                <a:latin typeface="Gungsuh"/>
                <a:ea typeface="Gungsuh"/>
                <a:cs typeface="Gungsuh"/>
                <a:sym typeface="Gungsuh"/>
              </a:rPr>
              <a:t>&lt;딸깍 리뷰&gt;</a:t>
            </a:r>
            <a:endParaRPr sz="2500">
              <a:latin typeface="Gungsuh"/>
              <a:ea typeface="Gungsuh"/>
              <a:cs typeface="Gungsuh"/>
              <a:sym typeface="Gungsu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b="1" i="1" lang="ko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TEAM1</a:t>
            </a:r>
            <a:endParaRPr b="1" i="1" sz="12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t/>
            </a:r>
            <a:endParaRPr b="1" i="1" sz="12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b="1" i="1" lang="ko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이의빈 202114228</a:t>
            </a:r>
            <a:endParaRPr b="1" i="1" sz="12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b="1" i="1" lang="ko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이유환 202111343</a:t>
            </a:r>
            <a:endParaRPr b="1" i="1" sz="12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b="1" i="1" lang="ko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최정길 202110542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목차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프로젝트 주제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요구사항분석서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시스템 구성도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시나리오 설명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난이도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최종 시연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311700" y="220975"/>
            <a:ext cx="2684400" cy="569100"/>
          </a:xfrm>
          <a:prstGeom prst="frame">
            <a:avLst>
              <a:gd fmla="val 1250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latin typeface="Gungsuh"/>
                <a:ea typeface="Gungsuh"/>
                <a:cs typeface="Gungsuh"/>
                <a:sym typeface="Gungsuh"/>
              </a:rPr>
              <a:t>딸깍 리뷰</a:t>
            </a:r>
            <a:endParaRPr b="1" sz="1800">
              <a:latin typeface="Gungsuh"/>
              <a:ea typeface="Gungsuh"/>
              <a:cs typeface="Gungsuh"/>
              <a:sym typeface="Gungsuh"/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625" y="1326188"/>
            <a:ext cx="2938176" cy="1360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4400" y="1277377"/>
            <a:ext cx="2833575" cy="1458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45000" y="1277375"/>
            <a:ext cx="2498343" cy="14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1675" y="3121500"/>
            <a:ext cx="1816080" cy="170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24151" y="3121500"/>
            <a:ext cx="1894052" cy="17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44626" y="3231475"/>
            <a:ext cx="1699100" cy="15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핵심 주제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1. 쿠팡 사이트에서 많은 수의 리뷰들 중에서 사용자가 원하는 리뷰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(예: 맛이 있는, 가성비 좋은) 특정 리뷰를 찾기 어렵다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2.쿠팡 사이트의 리뷰는 주로 긍정적인면이 많이 노출된다.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결론: 소비자가 건강한 소비생활을 잘 할 수 있게 도와주는 서비스를 제공하고자 한다.</a:t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311700" y="220975"/>
            <a:ext cx="2684400" cy="569100"/>
          </a:xfrm>
          <a:prstGeom prst="frame">
            <a:avLst>
              <a:gd fmla="val 1250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latin typeface="Gungsuh"/>
                <a:ea typeface="Gungsuh"/>
                <a:cs typeface="Gungsuh"/>
                <a:sym typeface="Gungsuh"/>
              </a:rPr>
              <a:t>딸깍 리뷰</a:t>
            </a:r>
            <a:endParaRPr b="1" sz="1800">
              <a:latin typeface="Gungsuh"/>
              <a:ea typeface="Gungsuh"/>
              <a:cs typeface="Gungsuh"/>
              <a:sym typeface="Gungsuh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1859925" y="1560750"/>
            <a:ext cx="1110600" cy="1903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/>
          <p:nvPr/>
        </p:nvSpPr>
        <p:spPr>
          <a:xfrm>
            <a:off x="5995250" y="1442825"/>
            <a:ext cx="2539800" cy="453600"/>
          </a:xfrm>
          <a:prstGeom prst="bevel">
            <a:avLst>
              <a:gd fmla="val 125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검색(크롤링&amp;스크래핑)</a:t>
            </a:r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5995250" y="2186675"/>
            <a:ext cx="2539800" cy="453600"/>
          </a:xfrm>
          <a:prstGeom prst="bevel">
            <a:avLst>
              <a:gd fmla="val 125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추천상품조회</a:t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>
            <a:off x="5995250" y="2930525"/>
            <a:ext cx="2539800" cy="453600"/>
          </a:xfrm>
          <a:prstGeom prst="bevel">
            <a:avLst>
              <a:gd fmla="val 125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저장</a:t>
            </a:r>
            <a:endParaRPr/>
          </a:p>
        </p:txBody>
      </p:sp>
      <p:sp>
        <p:nvSpPr>
          <p:cNvPr id="87" name="Google Shape;87;p17"/>
          <p:cNvSpPr/>
          <p:nvPr/>
        </p:nvSpPr>
        <p:spPr>
          <a:xfrm>
            <a:off x="5995250" y="3674375"/>
            <a:ext cx="2539800" cy="453600"/>
          </a:xfrm>
          <a:prstGeom prst="bevel">
            <a:avLst>
              <a:gd fmla="val 125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라이브러리</a:t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 rot="5400000">
            <a:off x="7124600" y="1900925"/>
            <a:ext cx="281100" cy="272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 rot="5400000">
            <a:off x="7124600" y="2649350"/>
            <a:ext cx="281100" cy="272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 rot="5400000">
            <a:off x="7124600" y="3393200"/>
            <a:ext cx="281100" cy="272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311700" y="220975"/>
            <a:ext cx="2684400" cy="569100"/>
          </a:xfrm>
          <a:prstGeom prst="frame">
            <a:avLst>
              <a:gd fmla="val 1250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latin typeface="Gungsuh"/>
                <a:ea typeface="Gungsuh"/>
                <a:cs typeface="Gungsuh"/>
                <a:sym typeface="Gungsuh"/>
              </a:rPr>
              <a:t>요구사항분석서</a:t>
            </a:r>
            <a:endParaRPr b="1" sz="1800">
              <a:latin typeface="Gungsuh"/>
              <a:ea typeface="Gungsuh"/>
              <a:cs typeface="Gungsuh"/>
              <a:sym typeface="Gungsuh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5995375" y="1148000"/>
            <a:ext cx="2539800" cy="2811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주요 요구사항</a:t>
            </a:r>
            <a:endParaRPr b="1"/>
          </a:p>
        </p:txBody>
      </p:sp>
      <p:sp>
        <p:nvSpPr>
          <p:cNvPr id="93" name="Google Shape;93;p17"/>
          <p:cNvSpPr/>
          <p:nvPr/>
        </p:nvSpPr>
        <p:spPr>
          <a:xfrm>
            <a:off x="311700" y="1009850"/>
            <a:ext cx="5285400" cy="368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대표 이미지들 추가해주세요</a:t>
            </a:r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450" y="1148002"/>
            <a:ext cx="4945575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/>
          <p:nvPr/>
        </p:nvSpPr>
        <p:spPr>
          <a:xfrm>
            <a:off x="311700" y="220975"/>
            <a:ext cx="2684400" cy="569100"/>
          </a:xfrm>
          <a:prstGeom prst="frame">
            <a:avLst>
              <a:gd fmla="val 1250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latin typeface="Gungsuh"/>
                <a:ea typeface="Gungsuh"/>
                <a:cs typeface="Gungsuh"/>
                <a:sym typeface="Gungsuh"/>
              </a:rPr>
              <a:t>시연 시스템 구성도</a:t>
            </a:r>
            <a:endParaRPr b="1" sz="1800">
              <a:latin typeface="Gungsuh"/>
              <a:ea typeface="Gungsuh"/>
              <a:cs typeface="Gungsuh"/>
              <a:sym typeface="Gungsuh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311700" y="1162250"/>
            <a:ext cx="5285400" cy="368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대표 이미지들 추가해주세요</a:t>
            </a:r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575" y="1297100"/>
            <a:ext cx="5023642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/>
          <p:nvPr/>
        </p:nvSpPr>
        <p:spPr>
          <a:xfrm>
            <a:off x="2164450" y="2809100"/>
            <a:ext cx="1053000" cy="3924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/>
          <p:nvPr/>
        </p:nvSpPr>
        <p:spPr>
          <a:xfrm>
            <a:off x="5811225" y="1148000"/>
            <a:ext cx="3105900" cy="2811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핵심 모듈</a:t>
            </a:r>
            <a:endParaRPr b="1"/>
          </a:p>
        </p:txBody>
      </p:sp>
      <p:sp>
        <p:nvSpPr>
          <p:cNvPr id="104" name="Google Shape;104;p18"/>
          <p:cNvSpPr/>
          <p:nvPr/>
        </p:nvSpPr>
        <p:spPr>
          <a:xfrm>
            <a:off x="5811225" y="1429100"/>
            <a:ext cx="3105900" cy="341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/>
          <p:nvPr/>
        </p:nvSpPr>
        <p:spPr>
          <a:xfrm>
            <a:off x="5939725" y="1555425"/>
            <a:ext cx="1356900" cy="28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Times"/>
                <a:ea typeface="Times"/>
                <a:cs typeface="Times"/>
                <a:sym typeface="Times"/>
              </a:rPr>
              <a:t>Facade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06" name="Google Shape;106;p18"/>
          <p:cNvGrpSpPr/>
          <p:nvPr/>
        </p:nvGrpSpPr>
        <p:grpSpPr>
          <a:xfrm>
            <a:off x="5939725" y="1962850"/>
            <a:ext cx="2833500" cy="354000"/>
            <a:chOff x="5939725" y="1962850"/>
            <a:chExt cx="2833500" cy="354000"/>
          </a:xfrm>
        </p:grpSpPr>
        <p:sp>
          <p:nvSpPr>
            <p:cNvPr id="107" name="Google Shape;107;p18"/>
            <p:cNvSpPr txBox="1"/>
            <p:nvPr/>
          </p:nvSpPr>
          <p:spPr>
            <a:xfrm>
              <a:off x="6021025" y="1962850"/>
              <a:ext cx="27522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100">
                  <a:solidFill>
                    <a:schemeClr val="dk2"/>
                  </a:solidFill>
                </a:rPr>
                <a:t>웹 서버와 기능 모듈 간의 중간 다리 역할</a:t>
              </a:r>
              <a:endParaRPr sz="1100">
                <a:solidFill>
                  <a:schemeClr val="dk2"/>
                </a:solidFill>
              </a:endParaRPr>
            </a:p>
          </p:txBody>
        </p:sp>
        <p:sp>
          <p:nvSpPr>
            <p:cNvPr id="108" name="Google Shape;108;p18"/>
            <p:cNvSpPr/>
            <p:nvPr/>
          </p:nvSpPr>
          <p:spPr>
            <a:xfrm>
              <a:off x="5939725" y="2091350"/>
              <a:ext cx="81300" cy="90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" name="Google Shape;109;p18"/>
          <p:cNvGrpSpPr/>
          <p:nvPr/>
        </p:nvGrpSpPr>
        <p:grpSpPr>
          <a:xfrm>
            <a:off x="5939725" y="2316850"/>
            <a:ext cx="2833500" cy="354000"/>
            <a:chOff x="5939725" y="1962850"/>
            <a:chExt cx="2833500" cy="354000"/>
          </a:xfrm>
        </p:grpSpPr>
        <p:sp>
          <p:nvSpPr>
            <p:cNvPr id="110" name="Google Shape;110;p18"/>
            <p:cNvSpPr txBox="1"/>
            <p:nvPr/>
          </p:nvSpPr>
          <p:spPr>
            <a:xfrm>
              <a:off x="6021025" y="1962850"/>
              <a:ext cx="27522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100">
                  <a:solidFill>
                    <a:schemeClr val="dk2"/>
                  </a:solidFill>
                </a:rPr>
                <a:t>모듈 간의 결합도를 낮춰 유연성 확보</a:t>
              </a:r>
              <a:endParaRPr sz="1100">
                <a:solidFill>
                  <a:schemeClr val="dk2"/>
                </a:solidFill>
              </a:endParaRPr>
            </a:p>
          </p:txBody>
        </p:sp>
        <p:sp>
          <p:nvSpPr>
            <p:cNvPr id="111" name="Google Shape;111;p18"/>
            <p:cNvSpPr/>
            <p:nvPr/>
          </p:nvSpPr>
          <p:spPr>
            <a:xfrm>
              <a:off x="5939725" y="2091350"/>
              <a:ext cx="81300" cy="90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" name="Google Shape;112;p18"/>
          <p:cNvGrpSpPr/>
          <p:nvPr/>
        </p:nvGrpSpPr>
        <p:grpSpPr>
          <a:xfrm>
            <a:off x="5939725" y="3558600"/>
            <a:ext cx="2833500" cy="354000"/>
            <a:chOff x="5939725" y="1962850"/>
            <a:chExt cx="2833500" cy="354000"/>
          </a:xfrm>
        </p:grpSpPr>
        <p:sp>
          <p:nvSpPr>
            <p:cNvPr id="113" name="Google Shape;113;p18"/>
            <p:cNvSpPr txBox="1"/>
            <p:nvPr/>
          </p:nvSpPr>
          <p:spPr>
            <a:xfrm>
              <a:off x="6021025" y="1962850"/>
              <a:ext cx="27522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100">
                  <a:solidFill>
                    <a:schemeClr val="dk2"/>
                  </a:solidFill>
                </a:rPr>
                <a:t>웹 서버 모듈은 어떤 작업인지만 판단</a:t>
              </a:r>
              <a:endParaRPr sz="1100">
                <a:solidFill>
                  <a:schemeClr val="dk2"/>
                </a:solidFill>
              </a:endParaRPr>
            </a:p>
          </p:txBody>
        </p:sp>
        <p:sp>
          <p:nvSpPr>
            <p:cNvPr id="114" name="Google Shape;114;p18"/>
            <p:cNvSpPr/>
            <p:nvPr/>
          </p:nvSpPr>
          <p:spPr>
            <a:xfrm>
              <a:off x="5939725" y="2091350"/>
              <a:ext cx="81300" cy="90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18"/>
          <p:cNvSpPr txBox="1"/>
          <p:nvPr/>
        </p:nvSpPr>
        <p:spPr>
          <a:xfrm>
            <a:off x="6344175" y="3906500"/>
            <a:ext cx="2429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인증: 로그인, 회원가입, 유효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6344175" y="4266600"/>
            <a:ext cx="2429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기능</a:t>
            </a:r>
            <a:r>
              <a:rPr lang="ko" sz="1100">
                <a:solidFill>
                  <a:schemeClr val="dk2"/>
                </a:solidFill>
              </a:rPr>
              <a:t>: </a:t>
            </a:r>
            <a:r>
              <a:rPr lang="ko" sz="1100">
                <a:solidFill>
                  <a:schemeClr val="dk2"/>
                </a:solidFill>
              </a:rPr>
              <a:t>검색, 저장, 라이브러리 조회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6344175" y="2670850"/>
            <a:ext cx="2429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다른 모듈은 자기 일만 담당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ko" sz="1100">
                <a:solidFill>
                  <a:schemeClr val="dk2"/>
                </a:solidFill>
              </a:rPr>
              <a:t>DB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ko" sz="1100">
                <a:solidFill>
                  <a:schemeClr val="dk2"/>
                </a:solidFill>
              </a:rPr>
              <a:t>AI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ko" sz="1100">
                <a:solidFill>
                  <a:schemeClr val="dk2"/>
                </a:solidFill>
              </a:rPr>
              <a:t>크롤링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/>
          <p:nvPr/>
        </p:nvSpPr>
        <p:spPr>
          <a:xfrm>
            <a:off x="837600" y="2434300"/>
            <a:ext cx="924900" cy="899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WEB</a:t>
            </a:r>
            <a:endParaRPr sz="1100"/>
          </a:p>
        </p:txBody>
      </p:sp>
      <p:sp>
        <p:nvSpPr>
          <p:cNvPr id="123" name="Google Shape;123;p19"/>
          <p:cNvSpPr/>
          <p:nvPr/>
        </p:nvSpPr>
        <p:spPr>
          <a:xfrm>
            <a:off x="2436850" y="2434300"/>
            <a:ext cx="924900" cy="899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Facade</a:t>
            </a:r>
            <a:endParaRPr sz="1100"/>
          </a:p>
        </p:txBody>
      </p:sp>
      <p:sp>
        <p:nvSpPr>
          <p:cNvPr id="124" name="Google Shape;124;p19"/>
          <p:cNvSpPr/>
          <p:nvPr/>
        </p:nvSpPr>
        <p:spPr>
          <a:xfrm>
            <a:off x="4036100" y="2434300"/>
            <a:ext cx="924900" cy="899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AI</a:t>
            </a:r>
            <a:endParaRPr/>
          </a:p>
        </p:txBody>
      </p:sp>
      <p:sp>
        <p:nvSpPr>
          <p:cNvPr id="125" name="Google Shape;125;p19"/>
          <p:cNvSpPr/>
          <p:nvPr/>
        </p:nvSpPr>
        <p:spPr>
          <a:xfrm>
            <a:off x="4036100" y="1276463"/>
            <a:ext cx="924900" cy="899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Crawl</a:t>
            </a:r>
            <a:endParaRPr/>
          </a:p>
        </p:txBody>
      </p:sp>
      <p:sp>
        <p:nvSpPr>
          <p:cNvPr id="126" name="Google Shape;126;p19"/>
          <p:cNvSpPr/>
          <p:nvPr/>
        </p:nvSpPr>
        <p:spPr>
          <a:xfrm>
            <a:off x="4036100" y="3549963"/>
            <a:ext cx="924900" cy="899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DB</a:t>
            </a:r>
            <a:endParaRPr/>
          </a:p>
        </p:txBody>
      </p:sp>
      <p:cxnSp>
        <p:nvCxnSpPr>
          <p:cNvPr id="127" name="Google Shape;127;p19"/>
          <p:cNvCxnSpPr>
            <a:stCxn id="122" idx="6"/>
            <a:endCxn id="123" idx="2"/>
          </p:cNvCxnSpPr>
          <p:nvPr/>
        </p:nvCxnSpPr>
        <p:spPr>
          <a:xfrm>
            <a:off x="1762500" y="2883850"/>
            <a:ext cx="674400" cy="600"/>
          </a:xfrm>
          <a:prstGeom prst="curved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19"/>
          <p:cNvCxnSpPr>
            <a:stCxn id="123" idx="6"/>
            <a:endCxn id="124" idx="2"/>
          </p:cNvCxnSpPr>
          <p:nvPr/>
        </p:nvCxnSpPr>
        <p:spPr>
          <a:xfrm>
            <a:off x="3361750" y="2883850"/>
            <a:ext cx="674400" cy="600"/>
          </a:xfrm>
          <a:prstGeom prst="curved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19"/>
          <p:cNvCxnSpPr>
            <a:stCxn id="123" idx="6"/>
            <a:endCxn id="125" idx="2"/>
          </p:cNvCxnSpPr>
          <p:nvPr/>
        </p:nvCxnSpPr>
        <p:spPr>
          <a:xfrm flipH="1" rot="10800000">
            <a:off x="3361750" y="1726150"/>
            <a:ext cx="674400" cy="1157700"/>
          </a:xfrm>
          <a:prstGeom prst="curvedConnector3">
            <a:avLst>
              <a:gd fmla="val 127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9"/>
          <p:cNvCxnSpPr>
            <a:stCxn id="123" idx="6"/>
            <a:endCxn id="126" idx="2"/>
          </p:cNvCxnSpPr>
          <p:nvPr/>
        </p:nvCxnSpPr>
        <p:spPr>
          <a:xfrm>
            <a:off x="3361750" y="2883850"/>
            <a:ext cx="674400" cy="1115700"/>
          </a:xfrm>
          <a:prstGeom prst="curvedConnector3">
            <a:avLst>
              <a:gd fmla="val 195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" name="Google Shape;131;p19"/>
          <p:cNvSpPr/>
          <p:nvPr/>
        </p:nvSpPr>
        <p:spPr>
          <a:xfrm>
            <a:off x="6083975" y="1105000"/>
            <a:ext cx="2292300" cy="2228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추가하고 싶은 기능</a:t>
            </a:r>
            <a:endParaRPr/>
          </a:p>
        </p:txBody>
      </p:sp>
      <p:cxnSp>
        <p:nvCxnSpPr>
          <p:cNvPr id="132" name="Google Shape;132;p19"/>
          <p:cNvCxnSpPr>
            <a:stCxn id="123" idx="0"/>
            <a:endCxn id="131" idx="0"/>
          </p:cNvCxnSpPr>
          <p:nvPr/>
        </p:nvCxnSpPr>
        <p:spPr>
          <a:xfrm rot="-5400000">
            <a:off x="4400050" y="-395750"/>
            <a:ext cx="1329300" cy="4330800"/>
          </a:xfrm>
          <a:prstGeom prst="curvedConnector3">
            <a:avLst>
              <a:gd fmla="val 11791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19"/>
          <p:cNvSpPr/>
          <p:nvPr/>
        </p:nvSpPr>
        <p:spPr>
          <a:xfrm>
            <a:off x="311700" y="220975"/>
            <a:ext cx="2684400" cy="569100"/>
          </a:xfrm>
          <a:prstGeom prst="frame">
            <a:avLst>
              <a:gd fmla="val 1250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latin typeface="Gungsuh"/>
                <a:ea typeface="Gungsuh"/>
                <a:cs typeface="Gungsuh"/>
                <a:sym typeface="Gungsuh"/>
              </a:rPr>
              <a:t>시연 시스템 구성도</a:t>
            </a:r>
            <a:endParaRPr b="1" sz="1800">
              <a:latin typeface="Gungsuh"/>
              <a:ea typeface="Gungsuh"/>
              <a:cs typeface="Gungsuh"/>
              <a:sym typeface="Gungsuh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/>
          <p:nvPr/>
        </p:nvSpPr>
        <p:spPr>
          <a:xfrm>
            <a:off x="311700" y="220975"/>
            <a:ext cx="2684400" cy="569100"/>
          </a:xfrm>
          <a:prstGeom prst="frame">
            <a:avLst>
              <a:gd fmla="val 1250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latin typeface="Gungsuh"/>
                <a:ea typeface="Gungsuh"/>
                <a:cs typeface="Gungsuh"/>
                <a:sym typeface="Gungsuh"/>
              </a:rPr>
              <a:t>시연 시나리오</a:t>
            </a:r>
            <a:endParaRPr b="1" sz="1800">
              <a:latin typeface="Gungsuh"/>
              <a:ea typeface="Gungsuh"/>
              <a:cs typeface="Gungsuh"/>
              <a:sym typeface="Gungsuh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3436113" y="1107175"/>
            <a:ext cx="2539800" cy="453600"/>
          </a:xfrm>
          <a:prstGeom prst="bevel">
            <a:avLst>
              <a:gd fmla="val 125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검색(크롤링&amp;스크래핑)</a:t>
            </a:r>
            <a:endParaRPr/>
          </a:p>
        </p:txBody>
      </p:sp>
      <p:sp>
        <p:nvSpPr>
          <p:cNvPr id="140" name="Google Shape;140;p20"/>
          <p:cNvSpPr/>
          <p:nvPr/>
        </p:nvSpPr>
        <p:spPr>
          <a:xfrm>
            <a:off x="3436125" y="2344950"/>
            <a:ext cx="2539800" cy="453600"/>
          </a:xfrm>
          <a:prstGeom prst="bevel">
            <a:avLst>
              <a:gd fmla="val 125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추천상품조회</a:t>
            </a:r>
            <a:endParaRPr/>
          </a:p>
        </p:txBody>
      </p:sp>
      <p:sp>
        <p:nvSpPr>
          <p:cNvPr id="141" name="Google Shape;141;p20"/>
          <p:cNvSpPr/>
          <p:nvPr/>
        </p:nvSpPr>
        <p:spPr>
          <a:xfrm>
            <a:off x="6329675" y="3500475"/>
            <a:ext cx="2539800" cy="453600"/>
          </a:xfrm>
          <a:prstGeom prst="bevel">
            <a:avLst>
              <a:gd fmla="val 125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저장</a:t>
            </a:r>
            <a:endParaRPr/>
          </a:p>
        </p:txBody>
      </p:sp>
      <p:sp>
        <p:nvSpPr>
          <p:cNvPr id="142" name="Google Shape;142;p20"/>
          <p:cNvSpPr/>
          <p:nvPr/>
        </p:nvSpPr>
        <p:spPr>
          <a:xfrm>
            <a:off x="6329675" y="4477950"/>
            <a:ext cx="2539800" cy="453600"/>
          </a:xfrm>
          <a:prstGeom prst="bevel">
            <a:avLst>
              <a:gd fmla="val 125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라이브러리</a:t>
            </a:r>
            <a:endParaRPr/>
          </a:p>
        </p:txBody>
      </p:sp>
      <p:sp>
        <p:nvSpPr>
          <p:cNvPr id="143" name="Google Shape;143;p20"/>
          <p:cNvSpPr/>
          <p:nvPr/>
        </p:nvSpPr>
        <p:spPr>
          <a:xfrm rot="8321132">
            <a:off x="5667385" y="1798192"/>
            <a:ext cx="867930" cy="28314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0"/>
          <p:cNvSpPr/>
          <p:nvPr/>
        </p:nvSpPr>
        <p:spPr>
          <a:xfrm rot="5400000">
            <a:off x="6765750" y="2346047"/>
            <a:ext cx="1666800" cy="269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0"/>
          <p:cNvSpPr/>
          <p:nvPr/>
        </p:nvSpPr>
        <p:spPr>
          <a:xfrm rot="5400000">
            <a:off x="4565475" y="3013463"/>
            <a:ext cx="281100" cy="272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0"/>
          <p:cNvSpPr/>
          <p:nvPr/>
        </p:nvSpPr>
        <p:spPr>
          <a:xfrm>
            <a:off x="481200" y="1098025"/>
            <a:ext cx="2539800" cy="453600"/>
          </a:xfrm>
          <a:prstGeom prst="bevel">
            <a:avLst>
              <a:gd fmla="val 125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URL, Keyword </a:t>
            </a:r>
            <a:r>
              <a:rPr lang="ko"/>
              <a:t>입력</a:t>
            </a:r>
            <a:endParaRPr/>
          </a:p>
        </p:txBody>
      </p:sp>
      <p:sp>
        <p:nvSpPr>
          <p:cNvPr id="147" name="Google Shape;147;p20"/>
          <p:cNvSpPr/>
          <p:nvPr/>
        </p:nvSpPr>
        <p:spPr>
          <a:xfrm>
            <a:off x="3088000" y="1188775"/>
            <a:ext cx="281100" cy="272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0"/>
          <p:cNvSpPr/>
          <p:nvPr/>
        </p:nvSpPr>
        <p:spPr>
          <a:xfrm>
            <a:off x="3436125" y="3500475"/>
            <a:ext cx="2539800" cy="453600"/>
          </a:xfrm>
          <a:prstGeom prst="bevel">
            <a:avLst>
              <a:gd fmla="val 125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추천상품결과</a:t>
            </a:r>
            <a:endParaRPr/>
          </a:p>
        </p:txBody>
      </p:sp>
      <p:sp>
        <p:nvSpPr>
          <p:cNvPr id="149" name="Google Shape;149;p20"/>
          <p:cNvSpPr/>
          <p:nvPr/>
        </p:nvSpPr>
        <p:spPr>
          <a:xfrm>
            <a:off x="6329675" y="1107175"/>
            <a:ext cx="2539800" cy="453600"/>
          </a:xfrm>
          <a:prstGeom prst="bevel">
            <a:avLst>
              <a:gd fmla="val 125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AI </a:t>
            </a:r>
            <a:r>
              <a:rPr lang="ko"/>
              <a:t>분석 결과</a:t>
            </a:r>
            <a:endParaRPr/>
          </a:p>
        </p:txBody>
      </p:sp>
      <p:sp>
        <p:nvSpPr>
          <p:cNvPr id="150" name="Google Shape;150;p20"/>
          <p:cNvSpPr/>
          <p:nvPr/>
        </p:nvSpPr>
        <p:spPr>
          <a:xfrm>
            <a:off x="6012250" y="1197925"/>
            <a:ext cx="281100" cy="272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0"/>
          <p:cNvSpPr/>
          <p:nvPr/>
        </p:nvSpPr>
        <p:spPr>
          <a:xfrm>
            <a:off x="6012250" y="3591225"/>
            <a:ext cx="281100" cy="272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0"/>
          <p:cNvSpPr/>
          <p:nvPr/>
        </p:nvSpPr>
        <p:spPr>
          <a:xfrm rot="5400000">
            <a:off x="7458600" y="4079950"/>
            <a:ext cx="281100" cy="272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idx="1" type="body"/>
          </p:nvPr>
        </p:nvSpPr>
        <p:spPr>
          <a:xfrm>
            <a:off x="311700" y="1152475"/>
            <a:ext cx="346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장면 : 검색</a:t>
            </a:r>
            <a:endParaRPr/>
          </a:p>
        </p:txBody>
      </p:sp>
      <p:sp>
        <p:nvSpPr>
          <p:cNvPr id="158" name="Google Shape;158;p21"/>
          <p:cNvSpPr/>
          <p:nvPr/>
        </p:nvSpPr>
        <p:spPr>
          <a:xfrm>
            <a:off x="311700" y="220975"/>
            <a:ext cx="2684400" cy="569100"/>
          </a:xfrm>
          <a:prstGeom prst="frame">
            <a:avLst>
              <a:gd fmla="val 1250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latin typeface="Gungsuh"/>
                <a:ea typeface="Gungsuh"/>
                <a:cs typeface="Gungsuh"/>
                <a:sym typeface="Gungsuh"/>
              </a:rPr>
              <a:t>시연 1</a:t>
            </a:r>
            <a:endParaRPr b="1" sz="1800">
              <a:latin typeface="Gungsuh"/>
              <a:ea typeface="Gungsuh"/>
              <a:cs typeface="Gungsuh"/>
              <a:sym typeface="Gungsuh"/>
            </a:endParaRPr>
          </a:p>
        </p:txBody>
      </p:sp>
      <p:pic>
        <p:nvPicPr>
          <p:cNvPr id="159" name="Google Shape;159;p21"/>
          <p:cNvPicPr preferRelativeResize="0"/>
          <p:nvPr/>
        </p:nvPicPr>
        <p:blipFill rotWithShape="1">
          <a:blip r:embed="rId3">
            <a:alphaModFix/>
          </a:blip>
          <a:srcRect b="0" l="0" r="685" t="1429"/>
          <a:stretch/>
        </p:blipFill>
        <p:spPr>
          <a:xfrm>
            <a:off x="1794150" y="1074375"/>
            <a:ext cx="7198526" cy="36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>
            <p:ph idx="1" type="body"/>
          </p:nvPr>
        </p:nvSpPr>
        <p:spPr>
          <a:xfrm>
            <a:off x="311700" y="1152475"/>
            <a:ext cx="346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장면: 검색 결과</a:t>
            </a:r>
            <a:endParaRPr/>
          </a:p>
        </p:txBody>
      </p:sp>
      <p:sp>
        <p:nvSpPr>
          <p:cNvPr id="165" name="Google Shape;165;p22"/>
          <p:cNvSpPr/>
          <p:nvPr/>
        </p:nvSpPr>
        <p:spPr>
          <a:xfrm>
            <a:off x="311700" y="220975"/>
            <a:ext cx="2684400" cy="569100"/>
          </a:xfrm>
          <a:prstGeom prst="frame">
            <a:avLst>
              <a:gd fmla="val 1250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latin typeface="Gungsuh"/>
                <a:ea typeface="Gungsuh"/>
                <a:cs typeface="Gungsuh"/>
                <a:sym typeface="Gungsuh"/>
              </a:rPr>
              <a:t>시연 2</a:t>
            </a:r>
            <a:endParaRPr b="1" sz="1800">
              <a:latin typeface="Gungsuh"/>
              <a:ea typeface="Gungsuh"/>
              <a:cs typeface="Gungsuh"/>
              <a:sym typeface="Gungsuh"/>
            </a:endParaRPr>
          </a:p>
        </p:txBody>
      </p:sp>
      <p:pic>
        <p:nvPicPr>
          <p:cNvPr id="166" name="Google Shape;16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3375" y="220975"/>
            <a:ext cx="5063700" cy="2514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3375" y="2623752"/>
            <a:ext cx="5063700" cy="946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13375" y="2365127"/>
            <a:ext cx="5063700" cy="2653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/>
          <p:nvPr>
            <p:ph idx="1" type="body"/>
          </p:nvPr>
        </p:nvSpPr>
        <p:spPr>
          <a:xfrm>
            <a:off x="311700" y="1152475"/>
            <a:ext cx="346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장면 : </a:t>
            </a:r>
            <a:r>
              <a:rPr lang="ko"/>
              <a:t>분석 내용 저장</a:t>
            </a:r>
            <a:endParaRPr/>
          </a:p>
        </p:txBody>
      </p:sp>
      <p:sp>
        <p:nvSpPr>
          <p:cNvPr id="174" name="Google Shape;174;p23"/>
          <p:cNvSpPr/>
          <p:nvPr/>
        </p:nvSpPr>
        <p:spPr>
          <a:xfrm>
            <a:off x="311700" y="220975"/>
            <a:ext cx="2684400" cy="569100"/>
          </a:xfrm>
          <a:prstGeom prst="frame">
            <a:avLst>
              <a:gd fmla="val 1250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latin typeface="Gungsuh"/>
                <a:ea typeface="Gungsuh"/>
                <a:cs typeface="Gungsuh"/>
                <a:sym typeface="Gungsuh"/>
              </a:rPr>
              <a:t>시연 3</a:t>
            </a:r>
            <a:endParaRPr b="1" sz="1800">
              <a:latin typeface="Gungsuh"/>
              <a:ea typeface="Gungsuh"/>
              <a:cs typeface="Gungsuh"/>
              <a:sym typeface="Gungsuh"/>
            </a:endParaRPr>
          </a:p>
        </p:txBody>
      </p:sp>
      <p:pic>
        <p:nvPicPr>
          <p:cNvPr id="175" name="Google Shape;17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1925" y="1023162"/>
            <a:ext cx="6407375" cy="367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 txBox="1"/>
          <p:nvPr>
            <p:ph idx="1" type="body"/>
          </p:nvPr>
        </p:nvSpPr>
        <p:spPr>
          <a:xfrm>
            <a:off x="4011075" y="1152475"/>
            <a:ext cx="4748100" cy="30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쿠팡의 봇 차단 서비스와의 싸움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비 정기적인 클래스명 변경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봇 차단 시 일시적 IP 차단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리뷰 자동 스크랩 방지용 홈페이지 구조 변경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AI API 토큰 관리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테스트 과정에서 잦은 토큰 부족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4"/>
          <p:cNvSpPr/>
          <p:nvPr/>
        </p:nvSpPr>
        <p:spPr>
          <a:xfrm>
            <a:off x="311700" y="220975"/>
            <a:ext cx="2684400" cy="569100"/>
          </a:xfrm>
          <a:prstGeom prst="frame">
            <a:avLst>
              <a:gd fmla="val 1250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latin typeface="Gungsuh"/>
                <a:ea typeface="Gungsuh"/>
                <a:cs typeface="Gungsuh"/>
                <a:sym typeface="Gungsuh"/>
              </a:rPr>
              <a:t>난이도</a:t>
            </a:r>
            <a:endParaRPr b="1" sz="1800">
              <a:latin typeface="Gungsuh"/>
              <a:ea typeface="Gungsuh"/>
              <a:cs typeface="Gungsuh"/>
              <a:sym typeface="Gungsuh"/>
            </a:endParaRPr>
          </a:p>
        </p:txBody>
      </p:sp>
      <p:pic>
        <p:nvPicPr>
          <p:cNvPr id="182" name="Google Shape;18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443125"/>
            <a:ext cx="2842125" cy="28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